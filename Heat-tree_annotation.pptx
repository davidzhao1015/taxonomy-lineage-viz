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1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02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81"/>
    <p:restoredTop sz="94689"/>
  </p:normalViewPr>
  <p:slideViewPr>
    <p:cSldViewPr snapToGrid="0">
      <p:cViewPr varScale="1">
        <p:scale>
          <a:sx n="143" d="100"/>
          <a:sy n="143" d="100"/>
        </p:scale>
        <p:origin x="11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4EC37-C158-F391-5D04-A336085CA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B7CC3D-C17C-38A0-8AB2-BFBA79E891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E48C0C-0996-D71C-E856-7E6620BEE2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C1782-D228-11BB-EBE4-05B52209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09E6E-62AC-9AF0-1916-CF81FDC99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15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4F01F-AE9E-323A-9031-CD9A4A4164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2838F-622F-58D2-0F7A-3EE8079CD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6A6E5-48EE-28C9-3635-0D47AA7A6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54109-EEF3-0DE4-03C3-346EC25AC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8FE921-EDF3-BE25-4B7C-C5E311A75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64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D18A-1E99-21F8-F521-5E86F6CA2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DED75-2725-708D-C5C9-191B68BBB4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C937F-B8F8-B442-4581-D156A48AF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D4CE03-27C6-8BA4-6031-197DE6675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7E4D3-DAEC-6678-2FC5-EBB77B6F8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4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69A07-AD79-C7A6-F414-CDFDA9400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91E54-A4B5-F2E0-F311-9C20CE1922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1E7418-3234-1629-DBCD-AFCEFF7BA9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B287E9-CFB8-E37D-8A5A-44ED01132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83EC35-AC5F-9CE9-0D5D-2FB227F96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A77EAA-8CCA-129D-E8A1-3888DB1FB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091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80EF7-D3E5-2677-FABE-DDC923D2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F840B0-E0AA-BA3D-55EB-9A6DF56EBB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CFA25-6631-373A-487D-311FBBAAF1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B7CBB-0158-C853-4EBF-AE53B92711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B02AB6C-1795-A2D5-8ADE-0A950864A3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7AF574-6184-7A37-FB2A-280258F695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81F52B-0EFA-F2F4-7976-CDFCEC81E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13DA2A-6BB8-6ABC-D508-6143C8CD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9958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4838C-C329-2124-12EB-5DC2FBD8B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5E36B6-1F5D-9F89-E3E8-AA0A3442C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1C1ECE-63B7-CF9B-AA90-DE6ACA14D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02FB4D-6D40-433E-D9B9-2F70578D1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968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63D02CB-B551-3907-3FA1-181A4842A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C1C94E-DD77-CA7F-8FD2-08EED56B2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19302-BBB1-9B35-DBE9-DC603AA82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857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F0248-135A-78A7-70F9-E2C7AC04A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9311EF-E553-DA2E-A0C3-73E9518CF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B1BC74-D36D-70CE-9FEE-DE8DDC8F12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496634-8368-BCF1-191C-55C549E86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BBC925-C8A8-09B1-DB46-09C6D2973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AB2CC-ECA3-EA89-CAB0-843B33E7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395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EDB5F-D398-E1C6-7945-D43A65894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A19660-86E0-B3C8-073A-B2C4DCC1C6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737D01-AC6E-FD2F-4294-3F8B185D83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485E4A-CBCF-217D-5255-FB60B2BA27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A58F42-C2E3-1B33-C170-8E63A95D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333A56-25B4-05BE-2F75-B112B5070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1871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E927A-F4D1-19C5-4D0B-1D47182E4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0F2AE-772C-CE97-63A4-F508ABA736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74CAE8-A50A-11E5-DE56-E1924ACAC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70130-E30C-8EDE-EA87-3BEEE8DF7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501D6-92F3-59F2-5F1B-1D3D66AEF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4381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98C5A54-EBDD-8587-D23D-83DA6365A4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36F3CF-BF3A-775E-44C1-BAB820F7C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C56642-7078-9785-6FB6-1C61A0E12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DF9BE-5E7F-5304-53F6-2FD8AE137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B48B25-6EA7-456D-AB84-DCE5B83F6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4274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181B91-8A73-9C43-BFC5-3BC72AADFC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64162B-C303-BB02-C9E0-705684BB8F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91D866-3850-2B25-E949-F93A415056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1C1364-0D93-CF4B-91C1-DFD523C3DABF}" type="datetimeFigureOut">
              <a:rPr lang="en-US" smtClean="0"/>
              <a:t>8/22/25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AC0B0-33C5-2EB9-D166-65B75BA5B5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8F21B-C493-5F7A-76ED-37207D7329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E6F9F1-3521-3340-8479-BC8F26218F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0565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1B3076-6F46-6C0A-84B6-927399D756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00" y="215153"/>
            <a:ext cx="10152000" cy="67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717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375CD9D-B8C3-B44F-8F45-53E4F60FAA99}"/>
              </a:ext>
            </a:extLst>
          </p:cNvPr>
          <p:cNvGrpSpPr/>
          <p:nvPr/>
        </p:nvGrpSpPr>
        <p:grpSpPr>
          <a:xfrm>
            <a:off x="898136" y="367553"/>
            <a:ext cx="8859458" cy="6330099"/>
            <a:chOff x="898136" y="367553"/>
            <a:chExt cx="8859458" cy="633009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102D9FB-A79E-F102-F0E9-08C4BE0EC70A}"/>
                </a:ext>
              </a:extLst>
            </p:cNvPr>
            <p:cNvGrpSpPr/>
            <p:nvPr/>
          </p:nvGrpSpPr>
          <p:grpSpPr>
            <a:xfrm>
              <a:off x="898136" y="367553"/>
              <a:ext cx="8772338" cy="6323106"/>
              <a:chOff x="898136" y="367553"/>
              <a:chExt cx="8772338" cy="63231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48AACB06-424D-DAD1-298D-0DA5EEE9DC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31414"/>
              <a:stretch>
                <a:fillRect/>
              </a:stretch>
            </p:blipFill>
            <p:spPr>
              <a:xfrm>
                <a:off x="1353670" y="367553"/>
                <a:ext cx="6505227" cy="6323106"/>
              </a:xfrm>
              <a:prstGeom prst="rect">
                <a:avLst/>
              </a:prstGeom>
            </p:spPr>
          </p:pic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C9E1E83-709C-002E-3AB2-86C067674F32}"/>
                  </a:ext>
                </a:extLst>
              </p:cNvPr>
              <p:cNvSpPr txBox="1"/>
              <p:nvPr/>
            </p:nvSpPr>
            <p:spPr>
              <a:xfrm>
                <a:off x="898136" y="2605776"/>
                <a:ext cx="253368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CA" sz="900" b="1" dirty="0">
                    <a:latin typeface="Corbel" panose="020B0503020204020204" pitchFamily="34" charset="0"/>
                  </a:rPr>
                  <a:t>LAB families (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Lactobacillaceae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Leuconostocaceae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Streptococcaceae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Enterococcaceae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and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Carnobacteriaceae</a:t>
                </a:r>
                <a:r>
                  <a:rPr lang="en-CA" sz="900" b="1" dirty="0">
                    <a:latin typeface="Corbel" panose="020B0503020204020204" pitchFamily="34" charset="0"/>
                  </a:rPr>
                  <a:t>)</a:t>
                </a:r>
                <a:r>
                  <a:rPr lang="en-CA" sz="900" dirty="0">
                    <a:latin typeface="Corbel" panose="020B0503020204020204" pitchFamily="34" charset="0"/>
                  </a:rPr>
                  <a:t> as the backbone of most </a:t>
                </a:r>
                <a:r>
                  <a:rPr lang="en-CA" sz="900" b="1" dirty="0">
                    <a:latin typeface="Corbel" panose="020B0503020204020204" pitchFamily="34" charset="0"/>
                  </a:rPr>
                  <a:t>dairy, cereal, and vegetable fermentations</a:t>
                </a:r>
                <a:r>
                  <a:rPr lang="en-CA" sz="900" dirty="0">
                    <a:latin typeface="Corbel" panose="020B0503020204020204" pitchFamily="34" charset="0"/>
                  </a:rPr>
                  <a:t>.</a:t>
                </a:r>
              </a:p>
              <a:p>
                <a:pPr algn="r"/>
                <a:endPara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Corbel" panose="020B0503020204020204" pitchFamily="34" charset="0"/>
                </a:endParaRPr>
              </a:p>
            </p:txBody>
          </p:sp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7EDBAB16-07C2-12FE-6BB6-9ED3A87D99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3098" t="71826" r="22879"/>
              <a:stretch>
                <a:fillRect/>
              </a:stretch>
            </p:blipFill>
            <p:spPr>
              <a:xfrm>
                <a:off x="1353670" y="4803024"/>
                <a:ext cx="1155708" cy="154800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91BBC19-B19F-5A21-5DB3-E39CB510926C}"/>
                  </a:ext>
                </a:extLst>
              </p:cNvPr>
              <p:cNvSpPr txBox="1"/>
              <p:nvPr/>
            </p:nvSpPr>
            <p:spPr>
              <a:xfrm>
                <a:off x="7389090" y="2921169"/>
                <a:ext cx="1985819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CA" sz="900" b="1" dirty="0">
                    <a:latin typeface="Corbel" panose="020B0503020204020204" pitchFamily="34" charset="0"/>
                  </a:rPr>
                  <a:t>Surface-ripening and meat fermentations involve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Staphylococcaceae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Micrococcaceae</a:t>
                </a:r>
                <a:r>
                  <a:rPr lang="en-CA" sz="900" b="1" dirty="0">
                    <a:latin typeface="Corbel" panose="020B0503020204020204" pitchFamily="34" charset="0"/>
                  </a:rPr>
                  <a:t>,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Brevibacteriaceae</a:t>
                </a:r>
                <a:r>
                  <a:rPr lang="en-CA" sz="900" b="1" dirty="0">
                    <a:latin typeface="Corbel" panose="020B0503020204020204" pitchFamily="34" charset="0"/>
                  </a:rPr>
                  <a:t>.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A59A16E-6FE1-668F-A9E7-4242F8B871EE}"/>
                  </a:ext>
                </a:extLst>
              </p:cNvPr>
              <p:cNvSpPr txBox="1"/>
              <p:nvPr/>
            </p:nvSpPr>
            <p:spPr>
              <a:xfrm>
                <a:off x="2667000" y="4064186"/>
                <a:ext cx="2308861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>
                  <a:buNone/>
                </a:pPr>
                <a:r>
                  <a:rPr lang="en-CA" sz="900" b="1" dirty="0">
                    <a:latin typeface="Corbel" panose="020B0503020204020204" pitchFamily="34" charset="0"/>
                  </a:rPr>
                  <a:t>Plant-associated Enterobacteriaceae and 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Erwiniaceae</a:t>
                </a:r>
                <a:r>
                  <a:rPr lang="en-CA" sz="900" b="1" dirty="0">
                    <a:latin typeface="Corbel" panose="020B0503020204020204" pitchFamily="34" charset="0"/>
                  </a:rPr>
                  <a:t> initializes fermentation in vegetables, cereal, tubers, coffee and cocoa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A1A7DCB-9AD7-C1FD-EE85-097D879DA10B}"/>
                  </a:ext>
                </a:extLst>
              </p:cNvPr>
              <p:cNvSpPr txBox="1"/>
              <p:nvPr/>
            </p:nvSpPr>
            <p:spPr>
              <a:xfrm>
                <a:off x="7730588" y="1031717"/>
                <a:ext cx="1939886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CA" sz="900" b="1" dirty="0" err="1">
                    <a:latin typeface="Corbel" panose="020B0503020204020204" pitchFamily="34" charset="0"/>
                  </a:rPr>
                  <a:t>Eggerthellaceae</a:t>
                </a:r>
                <a:r>
                  <a:rPr lang="en-CA" sz="900" b="1" dirty="0">
                    <a:latin typeface="Corbel" panose="020B0503020204020204" pitchFamily="34" charset="0"/>
                  </a:rPr>
                  <a:t> plays a minor yet emerging role in vegetable fermentation (</a:t>
                </a:r>
                <a:r>
                  <a:rPr lang="en-CA" sz="900" b="1" dirty="0" err="1">
                    <a:latin typeface="Corbel" panose="020B0503020204020204" pitchFamily="34" charset="0"/>
                  </a:rPr>
                  <a:t>eg.</a:t>
                </a:r>
                <a:r>
                  <a:rPr lang="en-CA" sz="900" b="1" dirty="0">
                    <a:latin typeface="Corbel" panose="020B0503020204020204" pitchFamily="34" charset="0"/>
                  </a:rPr>
                  <a:t> Sauerkraut and kimchi).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7FB526F-6124-91EC-17DA-390E7E68BCA2}"/>
                </a:ext>
              </a:extLst>
            </p:cNvPr>
            <p:cNvSpPr txBox="1"/>
            <p:nvPr/>
          </p:nvSpPr>
          <p:spPr>
            <a:xfrm>
              <a:off x="7476212" y="4954913"/>
              <a:ext cx="2281382" cy="174273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anchor="ctr">
              <a:noAutofit/>
            </a:bodyPr>
            <a:lstStyle/>
            <a:p>
              <a:pPr>
                <a:buNone/>
              </a:pPr>
              <a:r>
                <a:rPr lang="en-CA" sz="900" b="1" dirty="0">
                  <a:latin typeface="Corbel" panose="020B0503020204020204" pitchFamily="34" charset="0"/>
                </a:rPr>
                <a:t>Acetobacteraceae, </a:t>
              </a:r>
              <a:r>
                <a:rPr lang="en-CA" sz="900" b="1" dirty="0" err="1">
                  <a:latin typeface="Corbel" panose="020B0503020204020204" pitchFamily="34" charset="0"/>
                </a:rPr>
                <a:t>Bacillaceae</a:t>
              </a:r>
              <a:r>
                <a:rPr lang="en-CA" sz="900" b="1" dirty="0">
                  <a:latin typeface="Corbel" panose="020B0503020204020204" pitchFamily="34" charset="0"/>
                </a:rPr>
                <a:t>, and </a:t>
              </a:r>
              <a:r>
                <a:rPr lang="en-CA" sz="900" b="1" dirty="0" err="1">
                  <a:latin typeface="Corbel" panose="020B0503020204020204" pitchFamily="34" charset="0"/>
                </a:rPr>
                <a:t>Propionibacteriaceae</a:t>
              </a:r>
              <a:r>
                <a:rPr lang="en-CA" sz="900" b="1" dirty="0">
                  <a:latin typeface="Corbel" panose="020B0503020204020204" pitchFamily="34" charset="0"/>
                </a:rPr>
                <a:t> define specific niches such as vinegar, natto, soy/fish sauces, and Swiss cheeses.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26140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2C6D0-2394-F602-3098-36B5D0DB0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B7E7AAEF-F6CB-93B2-9978-871ADAE3268D}"/>
              </a:ext>
            </a:extLst>
          </p:cNvPr>
          <p:cNvGrpSpPr/>
          <p:nvPr/>
        </p:nvGrpSpPr>
        <p:grpSpPr>
          <a:xfrm>
            <a:off x="1353670" y="367553"/>
            <a:ext cx="6505227" cy="6323106"/>
            <a:chOff x="1353670" y="367553"/>
            <a:chExt cx="6505227" cy="632310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BD5F8B8-4604-3ACA-51DD-EBA74D17C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31414"/>
            <a:stretch>
              <a:fillRect/>
            </a:stretch>
          </p:blipFill>
          <p:spPr>
            <a:xfrm>
              <a:off x="1353670" y="367553"/>
              <a:ext cx="6505227" cy="632310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E51BDC5-151E-39C0-C975-CF6133D3209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3098" t="71826" r="22879"/>
            <a:stretch>
              <a:fillRect/>
            </a:stretch>
          </p:blipFill>
          <p:spPr>
            <a:xfrm>
              <a:off x="1353670" y="4803024"/>
              <a:ext cx="1155708" cy="1548000"/>
            </a:xfrm>
            <a:prstGeom prst="rect">
              <a:avLst/>
            </a:prstGeom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8B4A0050-0D5D-F8FC-6B78-BACCC1AF19CD}"/>
              </a:ext>
            </a:extLst>
          </p:cNvPr>
          <p:cNvSpPr/>
          <p:nvPr/>
        </p:nvSpPr>
        <p:spPr>
          <a:xfrm>
            <a:off x="1470212" y="860612"/>
            <a:ext cx="914400" cy="914400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6652D72-CC3D-4D0E-0D3E-5D92B4AA10C8}"/>
              </a:ext>
            </a:extLst>
          </p:cNvPr>
          <p:cNvSpPr/>
          <p:nvPr/>
        </p:nvSpPr>
        <p:spPr>
          <a:xfrm>
            <a:off x="1470212" y="1917418"/>
            <a:ext cx="914400" cy="9144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086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C8F39-BF8F-D31C-35E9-DA17BC448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1420"/>
            <a:ext cx="10515600" cy="518795"/>
          </a:xfrm>
        </p:spPr>
        <p:txBody>
          <a:bodyPr>
            <a:noAutofit/>
          </a:bodyPr>
          <a:lstStyle/>
          <a:p>
            <a:r>
              <a:rPr lang="en-US" sz="2400" dirty="0">
                <a:latin typeface="Corbel" panose="020B0503020204020204" pitchFamily="34" charset="0"/>
              </a:rPr>
              <a:t>Key bacteria families driving food fermentation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F1E5D8-C832-2369-2675-D3B4A522F23F}"/>
              </a:ext>
            </a:extLst>
          </p:cNvPr>
          <p:cNvSpPr txBox="1">
            <a:spLocks/>
          </p:cNvSpPr>
          <p:nvPr/>
        </p:nvSpPr>
        <p:spPr>
          <a:xfrm>
            <a:off x="838200" y="791849"/>
            <a:ext cx="10515600" cy="5187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400" dirty="0">
                <a:latin typeface="Corbel" panose="020B0503020204020204" pitchFamily="34" charset="0"/>
              </a:rPr>
              <a:t>LAB families dominate dairy, cereal and vegetable fermentation, while </a:t>
            </a:r>
            <a:r>
              <a:rPr lang="en-US" sz="1400" dirty="0" err="1">
                <a:latin typeface="Corbel" panose="020B0503020204020204" pitchFamily="34" charset="0"/>
              </a:rPr>
              <a:t>Bacillaceae</a:t>
            </a:r>
            <a:r>
              <a:rPr lang="en-US" sz="1400" dirty="0">
                <a:latin typeface="Corbel" panose="020B0503020204020204" pitchFamily="34" charset="0"/>
              </a:rPr>
              <a:t> and Acetobacteraceae define niche processes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A0BDBC6-42BB-2372-900F-9529829F48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7643"/>
          <a:stretch>
            <a:fillRect/>
          </a:stretch>
        </p:blipFill>
        <p:spPr>
          <a:xfrm>
            <a:off x="3515358" y="1782000"/>
            <a:ext cx="7838442" cy="50760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BA3965B-7D69-7589-EB7C-240406B9746A}"/>
              </a:ext>
            </a:extLst>
          </p:cNvPr>
          <p:cNvSpPr txBox="1"/>
          <p:nvPr/>
        </p:nvSpPr>
        <p:spPr>
          <a:xfrm>
            <a:off x="943303" y="1603928"/>
            <a:ext cx="6077607" cy="2339102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CA" sz="1050" b="1" dirty="0">
                <a:latin typeface="Corbel" panose="020B0503020204020204" pitchFamily="34" charset="0"/>
              </a:rPr>
              <a:t>Key Insights</a:t>
            </a:r>
          </a:p>
          <a:p>
            <a:pPr>
              <a:buNone/>
            </a:pPr>
            <a:endParaRPr lang="en-CA" sz="1050" dirty="0">
              <a:latin typeface="Corbel" panose="020B0503020204020204" pitchFamily="34" charset="0"/>
            </a:endParaRP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sz="1050" b="1" dirty="0">
                <a:latin typeface="Corbel" panose="020B0503020204020204" pitchFamily="34" charset="0"/>
              </a:rPr>
              <a:t>Core Fermenters: </a:t>
            </a:r>
            <a:r>
              <a:rPr lang="en-CA" sz="1050" dirty="0">
                <a:latin typeface="Corbel" panose="020B0503020204020204" pitchFamily="34" charset="0"/>
              </a:rPr>
              <a:t>LAB families (</a:t>
            </a:r>
            <a:r>
              <a:rPr lang="en-CA" sz="1050" dirty="0" err="1">
                <a:latin typeface="Corbel" panose="020B0503020204020204" pitchFamily="34" charset="0"/>
              </a:rPr>
              <a:t>Lactobacillaceae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Leuconostocaceae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Streptococcaceae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Enterococcaceae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Carnobacteriaceae</a:t>
            </a:r>
            <a:r>
              <a:rPr lang="en-CA" sz="1050" dirty="0">
                <a:latin typeface="Corbel" panose="020B0503020204020204" pitchFamily="34" charset="0"/>
              </a:rPr>
              <a:t>): Backbone of dairy, cereal, and vegetable fermentations.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sz="1050" b="1" dirty="0">
                <a:latin typeface="Corbel" panose="020B0503020204020204" pitchFamily="34" charset="0"/>
              </a:rPr>
              <a:t>Initiators: </a:t>
            </a:r>
            <a:r>
              <a:rPr lang="en-CA" sz="1050" dirty="0">
                <a:latin typeface="Corbel" panose="020B0503020204020204" pitchFamily="34" charset="0"/>
              </a:rPr>
              <a:t>Enterobacteriaceae, </a:t>
            </a:r>
            <a:r>
              <a:rPr lang="en-CA" sz="1050" dirty="0" err="1">
                <a:latin typeface="Corbel" panose="020B0503020204020204" pitchFamily="34" charset="0"/>
              </a:rPr>
              <a:t>Erwiniaceae</a:t>
            </a:r>
            <a:r>
              <a:rPr lang="en-CA" sz="1050" dirty="0">
                <a:latin typeface="Corbel" panose="020B0503020204020204" pitchFamily="34" charset="0"/>
              </a:rPr>
              <a:t>: Start spontaneous fermentations in vegetables, cereals, tubers, coffee, and cocoa.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sz="1050" b="1" dirty="0">
                <a:latin typeface="Corbel" panose="020B0503020204020204" pitchFamily="34" charset="0"/>
              </a:rPr>
              <a:t>Niche Specialists: </a:t>
            </a:r>
            <a:r>
              <a:rPr lang="en-CA" sz="1050" dirty="0">
                <a:latin typeface="Corbel" panose="020B0503020204020204" pitchFamily="34" charset="0"/>
              </a:rPr>
              <a:t>Acetobacteraceae, </a:t>
            </a:r>
            <a:r>
              <a:rPr lang="en-CA" sz="1050" dirty="0" err="1">
                <a:latin typeface="Corbel" panose="020B0503020204020204" pitchFamily="34" charset="0"/>
              </a:rPr>
              <a:t>Bacillaceae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Propionibacteriaceae</a:t>
            </a:r>
            <a:r>
              <a:rPr lang="en-CA" sz="1050" dirty="0">
                <a:latin typeface="Corbel" panose="020B0503020204020204" pitchFamily="34" charset="0"/>
              </a:rPr>
              <a:t>: Define vinegar, natto, soy/fish sauces, and Swiss cheese fermentations.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sz="1050" b="1" dirty="0">
                <a:latin typeface="Corbel" panose="020B0503020204020204" pitchFamily="34" charset="0"/>
              </a:rPr>
              <a:t>Surface &amp; Meat Fermenters: </a:t>
            </a:r>
            <a:r>
              <a:rPr lang="en-CA" sz="1050" dirty="0" err="1">
                <a:latin typeface="Corbel" panose="020B0503020204020204" pitchFamily="34" charset="0"/>
              </a:rPr>
              <a:t>Staphylococcaceae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Micrococcaceae</a:t>
            </a:r>
            <a:r>
              <a:rPr lang="en-CA" sz="1050" dirty="0">
                <a:latin typeface="Corbel" panose="020B0503020204020204" pitchFamily="34" charset="0"/>
              </a:rPr>
              <a:t>, </a:t>
            </a:r>
            <a:r>
              <a:rPr lang="en-CA" sz="1050" dirty="0" err="1">
                <a:latin typeface="Corbel" panose="020B0503020204020204" pitchFamily="34" charset="0"/>
              </a:rPr>
              <a:t>Brevibacteriaceae</a:t>
            </a:r>
            <a:r>
              <a:rPr lang="en-CA" sz="1050" dirty="0">
                <a:latin typeface="Corbel" panose="020B0503020204020204" pitchFamily="34" charset="0"/>
              </a:rPr>
              <a:t>: Drive ripening, aroma, and safety in meat and cheese fermentations.</a:t>
            </a:r>
          </a:p>
          <a:p>
            <a:pPr marL="171450" indent="-1714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CA" sz="1050" b="1" dirty="0">
                <a:latin typeface="Corbel" panose="020B0503020204020204" pitchFamily="34" charset="0"/>
              </a:rPr>
              <a:t>Minor but Emerging: </a:t>
            </a:r>
            <a:r>
              <a:rPr lang="en-CA" sz="1050" dirty="0" err="1">
                <a:latin typeface="Corbel" panose="020B0503020204020204" pitchFamily="34" charset="0"/>
              </a:rPr>
              <a:t>Eggerthellaceae</a:t>
            </a:r>
            <a:r>
              <a:rPr lang="en-CA" sz="1050" dirty="0">
                <a:latin typeface="Corbel" panose="020B0503020204020204" pitchFamily="34" charset="0"/>
              </a:rPr>
              <a:t>: Secondary role in vegetable fermentations like sauerkraut and kimchi.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711503-F0BA-F9CB-98A5-CA0A13219011}"/>
              </a:ext>
            </a:extLst>
          </p:cNvPr>
          <p:cNvSpPr txBox="1"/>
          <p:nvPr/>
        </p:nvSpPr>
        <p:spPr>
          <a:xfrm>
            <a:off x="943303" y="4747111"/>
            <a:ext cx="4156316" cy="70525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CA" sz="1400" b="1" dirty="0">
                <a:latin typeface="Corbel" panose="020B0503020204020204" pitchFamily="34" charset="0"/>
              </a:rPr>
              <a:t>Understanding these families helps optimize nutrition, flavor, and safety.</a:t>
            </a:r>
          </a:p>
        </p:txBody>
      </p:sp>
    </p:spTree>
    <p:extLst>
      <p:ext uri="{BB962C8B-B14F-4D97-AF65-F5344CB8AC3E}">
        <p14:creationId xmlns:p14="http://schemas.microsoft.com/office/powerpoint/2010/main" val="5748703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243</Words>
  <Application>Microsoft Macintosh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Corbel</vt:lpstr>
      <vt:lpstr>Office Theme</vt:lpstr>
      <vt:lpstr>PowerPoint Presentation</vt:lpstr>
      <vt:lpstr>PowerPoint Presentation</vt:lpstr>
      <vt:lpstr>PowerPoint Presentation</vt:lpstr>
      <vt:lpstr>Key bacteria families driving food fermentation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 (David) Zhao</dc:creator>
  <cp:lastModifiedBy>Xin (David) Zhao</cp:lastModifiedBy>
  <cp:revision>19</cp:revision>
  <dcterms:created xsi:type="dcterms:W3CDTF">2025-08-20T03:12:42Z</dcterms:created>
  <dcterms:modified xsi:type="dcterms:W3CDTF">2025-08-23T00:02:04Z</dcterms:modified>
</cp:coreProperties>
</file>